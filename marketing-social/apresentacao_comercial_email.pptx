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95928" y="1170432"/>
            <a:ext cx="4206240" cy="475488"/>
          </a:xfrm>
          <a:prstGeom prst="roundRect">
            <a:avLst>
              <a:gd name="adj" fmla="val 50000"/>
            </a:avLst>
          </a:prstGeom>
          <a:solidFill>
            <a:srgbClr val="23262E"/>
          </a:solidFill>
          <a:ln w="12700">
            <a:solidFill>
              <a:srgbClr val="FF5A1F">
                <a:alpha val="7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289304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0288" y="1170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TMS FEITO PARA VENDER FRETE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27048" y="19202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ctr" indent="0" marL="0">
              <a:buNone/>
            </a:pPr>
            <a:r>
              <a:rPr lang="en-US" sz="8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2441448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precificação do frete, resolvida — com um TMS completo dentro.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441448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comercial</a:t>
            </a:r>
            <a:pPr algn="ctr"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hipertms.com.br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27448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hipertms.com.br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Cotar frete é o gargalo de quem vende frete.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48168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carga vai para quem responde primeiro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3008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a cotação não sai — planilha, caderno, "te retorno amanhã" — o cliente fecha com o concorrente que respondeu na hora.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50" y="248168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tabela trava a operação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45152" y="3520440"/>
            <a:ext cx="3008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cidade por cidade, generalidades, GRIS, piso ANTT, reajuste… manter isso na mão é um projeto sem fim — e sempre desatualizado.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0" y="248168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invisível até ser tarde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94192" y="3520440"/>
            <a:ext cx="3008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imposto, custo e margem calculados item a item, você só descobre se o frete deu lucro depois que o caminhão já rodou.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a conta: quanto tempo leva, hoje, uma cotação para uma cidade fora da rota de costume?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OS OUTROS SISTEMAS NÃO RESOLVEM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mercado inteiro te ensina a montar tabela.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HiperTMS entrega a tabela pronta.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outros TMS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9067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0175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apresentam como "sistema completo": o coração é emitir CT-e/MDF-e.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12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63931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chega vazio: a tabela de frete é problema seu.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3425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426110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Publicam guias de "como montar sua tabela de frete" — trabalho seu, de novo.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5604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48828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preço para o Brasil inteiro vira projeto de semanas.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17920" y="237744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49224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09067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39712" y="301752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 para VENDER frete — a precificação é o coração do produto.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712464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39712" y="363931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do Brasil inteiro já vem pronta: +5.500 municípios precificados.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334256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39712" y="426110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time de precificação mantém a tabela viva com as métricas do mercado.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956048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39712" y="488289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CT-e, MDF-e e NF-e vêm junto — obrigação, não diferencial.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Eles respondem "aprenda a fazer". Nós respondemos "já está feito — e é mantido".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HIPERTMS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de precificação e cotação de frete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um TMS completo embutido.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6151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71028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218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Tabela nacional pronta e viva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6112" y="3749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+5.500 municípios com generalidades, GRIS e piso ANTT — elaborada e mantida pelo nosso time.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56432" y="23774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12464" y="26151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562" y="271028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12464" y="3218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Contratos por cliente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712464" y="3749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entende a singularidade de cada contrato e aplica a regra certa ao cotar e faturar.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72784" y="23774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28816" y="26151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271028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8816" y="3218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Proatividade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528816" y="3749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semi-automático: o sistema acompanha as viagens e prepara o faturamento sozinho.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89136" y="2377440"/>
            <a:ext cx="2615184" cy="3063240"/>
          </a:xfrm>
          <a:prstGeom prst="roundRect">
            <a:avLst>
              <a:gd name="adj" fmla="val 419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45168" y="26151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0266" y="2710282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5168" y="3218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Lia — IA no WhatsApp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345168" y="3749040"/>
            <a:ext cx="21031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cliente pede, a Lia calcula com a sua tabela e o contrato dele, e responde na conversa.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Fiscal, financeiro e frota vêm junto — no mesmo lugar, desde o primeiro dia.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MELHOR ATRIBUTO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precificação: um serviço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precificação dentro do sistema.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34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municípios com preço pronto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343400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cidade para qualquer cidade, com imposto, custo e margem.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377440"/>
            <a:ext cx="7315200" cy="1024128"/>
          </a:xfrm>
          <a:prstGeom prst="roundRect">
            <a:avLst>
              <a:gd name="adj" fmla="val 1071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63347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973" y="2735885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66360" y="248716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time de precificação trabalhando por você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166360" y="2798064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com mais de 30 anos de gestão de transportadora elaboram e mantêm as tabelas dentro do sistema. Você não configura do zero — recebe pronto.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51960" y="3511296"/>
            <a:ext cx="7315200" cy="1024128"/>
          </a:xfrm>
          <a:prstGeom prst="roundRect">
            <a:avLst>
              <a:gd name="adj" fmla="val 1071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0560" y="3767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973" y="386974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3621024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mercado acompanhadas de perto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166360" y="393192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operacionais, insumos, pedágio e piso mínimo ANTT entram no cálculo. Quando o diesel sobe, sua tabela acompanha.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251960" y="4645152"/>
            <a:ext cx="7315200" cy="1024128"/>
          </a:xfrm>
          <a:prstGeom prst="roundRect">
            <a:avLst>
              <a:gd name="adj" fmla="val 1071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80560" y="490118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973" y="5003597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6360" y="4754880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margem em cima de uma base qualificada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166360" y="5065776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valores são ponto de partida, não imposição: ajuste margem, desconto e regra por cliente em cima de uma tabela que já nasce certa.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assina só um software. Assina um time de precificação — entregue via sistema.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que entendem cada cliente.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de verdade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cliente tem tabela própria, generalidades diferentes, reajuste próprio. Quem cota e quem fatura precisa lembrar de tudo isso — ou o dinheiro escapa: frete cotado errado, generalidade esquecida na fatura, reajuste não aplicado.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HiperTMS, a ferramenta de contratos guarda a singularidade de cada cliente — e o sistema aplica a regra certa automaticamente.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544068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41401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493" y="2516429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040880" y="22677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cadastrado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40880" y="26151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própria, generalidades, regras e reajustes do cliente.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86800" y="32186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26480" y="3401568"/>
            <a:ext cx="544068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37124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493" y="3814877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35661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Cotação automática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040880" y="39136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puxa a regra do contrato — ninguém analisa tabela.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686800" y="45171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126480" y="4700016"/>
            <a:ext cx="544068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55080" y="50109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493" y="5113325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40880" y="486460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correto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040880" y="52120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fatura sai com o preço do contrato, sem conferência manual.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precisa analisar tabela de cliente para cotar ou faturar. Nunca mais.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 EM 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Cotação em segundos — qualquer rota do Brasil.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real do motor de cotação: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Paulo, SP  →  Belo Horizonte, MG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frete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R$ 4.863,64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22% visível antes de fechar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 ver com uma rota sua? Na demonstração, cotamos as rotas que VOCÊ atende — leva menos de um minuto.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aparece na tela: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24328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66560" y="26060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mínimo ANTT da rota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conformidade garantida, sem multa</a:t>
            </a:r>
            <a:endParaRPr lang="en-US" sz="1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01568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33832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real estimado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combustível, pedágio, impostos por regime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7880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4160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item a item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você vê quanto sobra antes de fechar</a:t>
            </a:r>
            <a:endParaRPr lang="en-US" sz="12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95604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49377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de venda sugerido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partir da tabela viva + seu ajuste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Lia: cotação pelo WhatsApp, com IA.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4846320" cy="3749040"/>
          </a:xfrm>
          <a:prstGeom prst="roundRect">
            <a:avLst>
              <a:gd name="adj" fmla="val 2927"/>
            </a:avLst>
          </a:prstGeom>
          <a:solidFill>
            <a:srgbClr val="1E2128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239572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2B2F39"/>
          </a:solidFill>
          <a:ln w="6350">
            <a:solidFill>
              <a:srgbClr val="3A3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450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Oi! Quanto fica um frete de Campinas pra Uberlândia, 8 toneladas?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218688"/>
            <a:ext cx="3566160" cy="969264"/>
          </a:xfrm>
          <a:prstGeom prst="roundRect">
            <a:avLst>
              <a:gd name="adj" fmla="val 9434"/>
            </a:avLst>
          </a:prstGeom>
          <a:solidFill>
            <a:srgbClr val="2E4034"/>
          </a:solidFill>
          <a:ln w="6350">
            <a:solidFill>
              <a:srgbClr val="3E55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273552"/>
            <a:ext cx="3291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9F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 · HiperTMS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9F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Oi! Com a tabela e o contrato de vocês: R$ [x.xxx],00 — já com imposto, GRIS e pedágio. Quer que eu emita a cotação em PDF?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83080" y="4352544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2B2F39"/>
          </a:solidFill>
          <a:ln w="6350">
            <a:solidFill>
              <a:srgbClr val="3A3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4407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mandar! 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ilustrativa — na demonstração, a Lia cota uma rota real.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103120"/>
            <a:ext cx="571500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41401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173" y="2516429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66560" y="226771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transportador vive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66560" y="26151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cliente não abre sistema: ele manda WhatsApp. A Lia responde na conversa, na hora.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52160" y="3401568"/>
            <a:ext cx="571500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37124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73" y="3814877"/>
            <a:ext cx="307238" cy="30723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66560" y="35661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SUA tabela e o SEU contrato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766560" y="39136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Lia não chuta: calcula com a tabela viva e as regras do contrato de cada cliente.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852160" y="4700016"/>
            <a:ext cx="5715000" cy="1152144"/>
          </a:xfrm>
          <a:prstGeom prst="roundRect">
            <a:avLst>
              <a:gd name="adj" fmla="val 952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80760" y="50109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173" y="5113325"/>
            <a:ext cx="307238" cy="3072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66560" y="486460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antes do concorrente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766560" y="5212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cotação que levava horas sai em segundos — mesmo fora do horário do escritório.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Proatividade: o escritório que trabalha sozinho.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no escritório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436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28895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Alguém caça viagens encerradas para faturar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1129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34564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Digitação dupla: operação num lugar, cobrança noutro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7822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3584" y="40233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esquecido = frete rodado sem faturar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4515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3584" y="45902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de mês vira mutirão de conferência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17920" y="219456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26221F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49224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módulo de proatividade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944368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21424" y="28895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acompanha as viagens e prepara o faturamento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511296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21424" y="34564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semi-automático: você só revisa e confirma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078224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21424" y="40233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roda sem faturar: pendência aparece sozinha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645152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21424" y="45902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alimentado automaticamente a cada lançamento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escritório parado, mais frete vendido — e a gestão financeira das despesas em dia.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RESTO DO TMS?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junto. Obrigação de qualquer TMS sério.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3682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9" y="2452421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3682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em conformidade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" y="29169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CT-e, MDF-e e NF-e conforme SEFAZ e Receita, no mesmo fluxo. Menos rejeição.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23682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989" y="2452421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23682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automático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26864" y="29169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Vendas, abastecimento e manutenção alimentam o caixa sozinhos.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21488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5904" y="23682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29" y="2452421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42832" y="23682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Frota e motoristas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375904" y="29169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óleo, licenciamento, manutenção e exames. Documento à mão.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977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77824" y="41970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4281221"/>
            <a:ext cx="252374" cy="25237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44752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por viagem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77824" y="47457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vs. custo/km na tela — margem visível antes de rodar.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89120" y="3977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26864" y="41970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989" y="4281221"/>
            <a:ext cx="252374" cy="25237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93792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Multiempresa e filiais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626864" y="47457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5 empresas/filiais no mesmo ambiente, com visão consolidada.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38160" y="3977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5904" y="419709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0029" y="4281221"/>
            <a:ext cx="252374" cy="25237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42832" y="419709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 monitor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8375904" y="4745736"/>
            <a:ext cx="3044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Fechamentos, alertas por WhatsApp/e-mail e acompanhamento proativo.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diferencial não está aqui — está na precificação. Mas nada disso fica de fora.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ENTRA EM OPERAÇÃO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 conduzida por especialistas.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48168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· Calibrar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30083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time ajusta a tabela nacional com os SEUS preços, margens e particularidades de rota — a inteligência de precificação a serviço da sua operação.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50" y="248168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Configurar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5152" y="3520440"/>
            <a:ext cx="30083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Cadastramos os contratos dos seus clientes: tabelas próprias, generalidades e reajustes. O sistema nasce sabendo cotar e faturar cada um.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3865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0" y="248168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99008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 · Treinar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94192" y="3520440"/>
            <a:ext cx="300837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treinada por quem entende de transporte — cotação, operação, fiscal e financeiro. Você começa pronto, não com uma tela em branco.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de sistema dá trabalho? Não quando a implantação é nossa.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Migração acompanhada: tabelas e contratos entram primeiro; operação, fiscal e financeiro vêm no seu ritmo.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548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</a:t>
            </a:r>
            <a:pPr algn="l" indent="0" marL="0">
              <a:buNone/>
            </a:pPr>
            <a:r>
              <a:rPr lang="en-US" sz="18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9611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conversa à operação, sem fricção.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3408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43596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94436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Demonstração com a sua rota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3474720"/>
            <a:ext cx="30083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Agendamos 30 minutos e cotamos as rotas que VOCÊ atende, com seus números na tela.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103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3408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50" y="243596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94436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Proposta sob medida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45152" y="3474720"/>
            <a:ext cx="30083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+ escopo de implantação com valor fechado, em até 2 dias úteis após a demonstração.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94192" y="23408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3A2A22"/>
          </a:solidFill>
          <a:ln w="9525">
            <a:solidFill>
              <a:srgbClr val="FF5A1F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90" y="243596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944368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Implantação conduzida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94192" y="3474720"/>
            <a:ext cx="300837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calibrada, contratos configurados, equipe treinada — você entra em operação pronto.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89204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23262E"/>
          </a:solidFill>
          <a:ln w="9525">
            <a:solidFill>
              <a:srgbClr val="3A3F4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3036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(Lia)
</a:t>
            </a:r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 12 99788-0659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5230368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120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
</a:t>
            </a:r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contato@hipertms.com.br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523036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5074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 calculadora
</a:t>
            </a:r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hipertms.com.br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2026-08-19T18:05:54Z</dcterms:created>
  <dcterms:modified xsi:type="dcterms:W3CDTF">2026-08-19T18:05:54Z</dcterms:modified>
</cp:coreProperties>
</file>