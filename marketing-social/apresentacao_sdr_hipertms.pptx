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(30s): agradeça o tempo, confirme quem participa e o que a empresa faz. Prometa a agenda: "vou te mostrar como transportadoras estão vendendo mais frete resolvendo a parte mais difícil — a precificação — e no final falamos de investimento e próximos passos". Personalize [Transportadora] antes da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dor — deixe o lead falar. Faça a pergunta do rodapé e ESCUTE. Anote: quem cota hoje, quanto tempo leva, quantas cotações/dia, o que acontece quando a pessoa que sabe os preços não está. Cada resposta vira munição para 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fale mal do sistema atual do lead — separe EMITIR de VENDER: "o sistema que vocês têm resolve bem a parte fiscal; a pergunta é: quando chega cotação de uma cidade nova, ele traz o preço pronto ou vocês montam a tabela?" Deixe o lead concluir sozinho que tem um emissor, não um vendedor.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mapa da apresentação: 4 pilares, cada um vira um slide. Conecte com o que o lead falou no slide 2 ("você disse que quem cota é o fulano e leva X — olha o pilar 1 e 2"). Não detalhe ainda; prometa: "vou abrir cada um".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estrela — gaste tempo aqui. Conceito: o mercado sai de "software como serviço" para "serviço entregue via software". Pergunta forte: "quem atualiza a tabela de vocês quando o diesel sobe ou a ANTT publica novo piso?" A resposta (ninguém/eu mesmo) é o fechamento do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Pergunte: "quantos clientes de vocês têm tabela ou acordo próprio?" e "já aconteceu de faturar sem uma generalidade e descobrir depois?" — todo transportador tem um caso. É dinheiro que escapa em silêncio; o contrato no sistema estanca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apresentação vira demonstração: peça a rota mais comum do lead e cote ao vivo no sistema (tenant demo). Cronometre de verdade. Se a call for sem tela, use a calculadora pública ou peça a rota e mande o print pela Lia. Nada convence mais do que a rota DELE com preço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possível, demonstre ao vivo: peça para o lead mandar uma rota no WhatsApp da Lia e deixe a resposta chegar durante a call. Reforce: a Lia usa a tabela e o contrato do tenant — não é um chatbot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quantas pessoas o lead tem no administrativo e quanto do dia vai em digitar/conferir/faturar. O argumento não é demitir — é o mesmo time dar conta de crescer sem contratar.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rápido (1 min): o objetivo é tirar a objeção "mas e o fiscal/financeiro?" sem deixar a conversa virar checklist de features. Se o lead aprofundar em fiscal, responda e volte para precificação.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implantação é parte do valor, não um custo a esconder: é ela que garante que o lead não recebe um software vazio. Antecipe a objeção "trocar dá trabalho" antes que o lead a levante. O escopo detalhado vai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apresente este slide DEPOIS de construir valor (idealmente depois da cotação ao vivo). Âncora: mercado cobra 850–1.500 com tabela vazia; aqui são 599 com a tabela pronta e mantida. Material de uso 1:1 — preço não vai em peça pública. Se pedirem desconto, não negocie: leve para a proposta do especialista.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compromisso concreto: proponha dia e hora da demonstração AINDA NESTA conversa ("quarta às 10h ou quinta às 15h?"). Saída mínima aceitável: demonstração agendada. Registre frota, rotas e sistema atual no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95928" y="1170432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 w="12700">
            <a:solidFill>
              <a:srgbClr val="FF5A1F">
                <a:alpha val="7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28930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0288" y="1170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TMS FEITO PARA VENDER FRETE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27048" y="19202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ctr" indent="0" marL="0">
              <a:buNone/>
            </a:pPr>
            <a:r>
              <a:rPr lang="en-US" sz="8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2441448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precificação do frete, resolvida — com um TMS completo dentro.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441448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</a:t>
            </a:r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preparada para </a:t>
            </a:r>
            <a:pPr algn="ctr" indent="0" marL="0">
              <a:buNone/>
            </a:pPr>
            <a:r>
              <a:rPr lang="en-US" sz="1300" i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[Transportadora]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27448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hipertms.com.br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Cotar frete é o gargalo de quem vende frete.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816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carga vai para quem responde primeiro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a cotação não sai — planilha, caderno, "te retorno amanhã" — o cliente fecha com o concorrente que respondeu na hora.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816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tabela trava a operação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4515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cidade por cidade, generalidades, GRIS, piso ANTT, reajuste… manter isso na mão é um projeto sem fim — e sempre desatualizado.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816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invisível até ser tarde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9419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imposto, custo e margem calculados item a item, você só descobre se o frete deu lucro depois que o caminhão já rodou.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para o lead: "hoje, quanto tempo vocês levam para responder uma cotação fora da rota de costume?"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OS OUTROS SISTEMAS NÃO RESOLVEM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inteiro te ensina a montar tabela.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HiperTMS entrega a tabela pronta.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outros TMS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9067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0175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apresentam como "sistema completo": o coração é emitir CT-e/MDF-e.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12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6393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chega vazio: a tabela de frete é problema seu.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342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42611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Publicam guias de "como montar sua tabela de frete" — trabalho seu, de novo.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5604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882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preço para o Brasil inteiro vira projeto de semanas.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9224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09067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39712" y="30175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para VENDER frete — a precificação é o coração do produto.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1246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9712" y="36393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do Brasil inteiro já vem pronta: +5.500 municípios precificados.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334256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39712" y="42611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time de precificação mantém a tabela viva com as métricas do mercado.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956048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39712" y="4882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CT-e, MDF-e e NF-e vêm junto — obrigação, não diferencial.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 respondem "aprenda a fazer". Nós respondemos "já está feito — e é mantido".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HIPERTMS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de precificação e cotação de frete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um TMS completo embutido.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7102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Tabela nacional pronta e viva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6112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+5.500 municípios com generalidades, GRIS e piso ANTT — elaborada e mantida pelo nosso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56432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2464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62" y="27102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2464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Contratos por cliente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712464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entende a singularidade de cada contrato e aplica a regra certa ao cotar e faturar.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2784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28816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27102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Proatividade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528816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semi-automático: o sistema acompanha as viagens e prepara o faturamento sozinho.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89136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45168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266" y="271028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Lia — IA no WhatsApp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45168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cliente pede, a Lia calcula com a sua tabela e o contrato dele, e responde na conversa.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Fiscal, financeiro e frota vêm junto — no mesmo lugar, desde o primeiro dia.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MELHOR ATRIBUTO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precificação: um serviço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precificação dentro do sistema.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 com preço pronto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343400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cidade para qualquer cidade, com imposto, custo e margem.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3347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973" y="2735885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248716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time de precificação trabalhando por você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166360" y="279806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com mais de 30 anos de gestão de transportadora elaboram e mantêm as tabelas dentro do sistema. Você não configura do zero — recebe pronto.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3511296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3767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973" y="386974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3621024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mercado acompanhadas de perto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166360" y="39319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operacionais, insumos, pedágio e piso mínimo ANTT entram no cálculo. Quando o diesel sobe, sua tabela acompanha.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51960" y="4645152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80560" y="49011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973" y="5003597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4754880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margem em cima de uma base qualificada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166360" y="50657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valores são ponto de partida, não imposição: ajuste margem, desconto e regra por cliente em cima de uma tabela que já nasce certa.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assina só um software. Assina um time de precificação — entregue via sistema.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que entendem cada cliente.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de verdade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tem tabela própria, generalidades diferentes, reajuste próprio. Quem cota e quem fatura precisa lembrar de tudo isso — ou o dinheiro escapa: frete cotado errado, generalidade esquecida na fatura, reajuste não aplicado.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HiperTMS, a ferramenta de contratos guarda a singularidade de cada cliente — e o sistema aplica a regra certa automaticamente.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41401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493" y="2516429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40880" y="22677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cadastrado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0" y="26151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própria, generalidades, regras e reajustes do cliente.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0" y="32186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3401568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3712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93" y="3814877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35661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automática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40880" y="3913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puxa a regra do contrato — ninguém analisa tabela.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686800" y="45171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26480" y="4700016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50109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3" y="5113325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40880" y="48646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correto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40880" y="52120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fatura sai com o preço do contrato, sem conferência manual.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precisa analisar tabela de cliente para cotar ou faturar. Nunca mais.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EM AÇÃO · DEMONSTRAÇÃO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em segundos — com a SUA rota.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diga uma rota que vocês atendem: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[Origem]  →  [Destino]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Agora, ao vivo, o HiperTMS mostra o preço que o sistema já traria pronto para essa rota — antes mesmo de vocês serem clientes.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Cronometre. Leva menos de um minuto.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aparece na tela: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243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6560" y="2606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mínimo ANTT da rota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conformidade garantida, sem multa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015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33832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real estimado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combustível, pedágio, impostos por regime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788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item a item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você vê quanto sobra antes de fechar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95604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49377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de venda sugerido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partir da tabela viva + seu ajuste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Lia: cotação pelo WhatsApp, com IA.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1E2128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39572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2B2F39"/>
          </a:solidFill>
          <a:ln w="6350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450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Oi! Quanto fica um frete de Campinas pra Uberlândia, 8 toneladas?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218688"/>
            <a:ext cx="3566160" cy="969264"/>
          </a:xfrm>
          <a:prstGeom prst="roundRect">
            <a:avLst>
              <a:gd name="adj" fmla="val 9434"/>
            </a:avLst>
          </a:prstGeom>
          <a:solidFill>
            <a:srgbClr val="2E4034"/>
          </a:solidFill>
          <a:ln w="6350">
            <a:solidFill>
              <a:srgbClr val="3E55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7355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9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· HiperTMS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9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Oi! Com a tabela e o contrato de vocês: R$ [x.xxx],00 — já com imposto, GRIS e pedágio. Quer que eu emita a cotação em PDF?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4352544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2B2F39"/>
          </a:solidFill>
          <a:ln w="6350">
            <a:solidFill>
              <a:srgbClr val="3A3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mandar! 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ilustrativa — na demonstração, a Lia cota uma rota real.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41401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173" y="2516429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66560" y="226771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transportador vive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66560" y="2615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cliente não abre sistema: ele manda WhatsApp. A Lia responde na conversa, na hora.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52160" y="3401568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3712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73" y="3814877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66560" y="35661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SUA tabela e o SEU contrato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66560" y="39136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Lia não chuta: calcula com a tabela viva e as regras do contrato de cada cliente.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852160" y="4700016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50109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173" y="5113325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66560" y="48646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antes do concorrente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766560" y="5212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cotação que levava horas sai em segundos — mesmo fora do horário do escritório.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Proatividade: o escritório que trabalha sozinho.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no escritório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8895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Alguém caça viagens encerradas para faturar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129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34564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Digitação dupla: operação num lugar, cobrança noutro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7822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40233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esquecido = frete rodado sem faturar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451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45902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de mês vira mutirão de conferência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219456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módulo de proatividade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94436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21424" y="28895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acompanha as viagens e prepara o faturamento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51129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21424" y="34564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semi-automático: você só revisa e confirma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07822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21424" y="40233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roda sem faturar: pendência aparece sozinha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645152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21424" y="45902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alimentado automaticamente a cada lançamento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escritório parado, mais frete vendido — e a gestão financeira das despesas em dia.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RESTO DO TMS?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junto. Obrigação de qualquer TMS sério.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2452421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em conformidade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CT-e, MDF-e e NF-e conforme SEFAZ e Receita, no mesmo fluxo. Menos rejeição.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245242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automático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2686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Vendas, abastecimento e manutenção alimentam o caixa sozinhos.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29" y="2452421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e motoristas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7590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óleo, licenciamento, manutenção e exames. Documento à mão.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7782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281221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por viagem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7782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vs. custo/km na tela — margem visível antes de rodar.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8912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2686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989" y="4281221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79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Multiempresa e filiais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2686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 empresas/filiais no mesmo ambiente, com visão consolidada.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590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029" y="4281221"/>
            <a:ext cx="252374" cy="2523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4283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 monitor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37590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Fechamentos, alertas por WhatsApp/e-mail e acompanhamento proativo.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 não está aqui — está na precificação. Mas nada disso fica de fora.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ENTRA EM OPERAÇÃO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conduzida por especialistas.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816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Calibrar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time ajusta a tabela nacional com os SEUS preços, margens e particularidades de rota — a inteligência de precificação a serviço da sua operação.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816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Configurar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515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Cadastramos os contratos dos seus clientes: tabelas próprias, generalidades e reajustes. O sistema nasce sabendo cotar e faturar cada um.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816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Treinar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9419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treinada por quem entende de transporte — cotação, operação, fiscal e financeiro. Você começa pronto, não com uma tela em branco.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sistema dá trabalho? Não quando a implantação é nossa.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 acompanhada: tabelas e contratos entram primeiro; operação, fiscal e financeiro vêm no seu ritmo.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que uma diária de caminhão por mês.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852160" cy="3840480"/>
          </a:xfrm>
          <a:prstGeom prst="roundRect">
            <a:avLst>
              <a:gd name="adj" fmla="val 2857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Básico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R$ 599</a:t>
            </a:r>
            <a:pPr indent="0" marL="0">
              <a:buNone/>
            </a:pPr>
            <a:r>
              <a:rPr lang="en-US" sz="15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/mês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87552" y="3520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R$ 5.990/ano (2 meses de bônus)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502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9304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nacional + inteligência de precificação (tabela viva)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3425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9304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por cliente, cotação e faturamento semi-automático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1830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9304" y="4672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no WhatsApp — alertas e cotação (3 números inclusos)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023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9304" y="5056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CT-e, MDF-e e NF-e + financeiro + frota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8640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9304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usuários · 5 empresas/filiais · 10 GB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766560" y="2103120"/>
            <a:ext cx="4800600" cy="1783080"/>
          </a:xfrm>
          <a:prstGeom prst="roundRect">
            <a:avLst>
              <a:gd name="adj" fmla="val 615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995160" y="2331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24231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07808" y="22860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sob proposta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7086600" y="2743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sob medida: calibragem da tabela, contratos configurados e treinamento. Valor apresentado junto da proposta, conforme o tamanho da operação.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766560" y="4069080"/>
            <a:ext cx="4800600" cy="1280160"/>
          </a:xfrm>
          <a:prstGeom prst="roundRect">
            <a:avLst>
              <a:gd name="adj" fmla="val 8571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995160" y="42793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37083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607808" y="42245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Corporativo — sob consulta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7086600" y="4663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dedicada, SLA, retenção longa e compliance para operações maiores.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40080" y="61264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Referência: TMS tradicionais custam R$ 850–1.500/mês — e chegam com a tabela vazia.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conversa à operação, sem fricção.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3596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Demonstração com a sua rota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Agendamos 30 minutos e cotamos as rotas que VOCÊ atende, com seus números na tela.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359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Proposta sob medida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515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+ escopo de implantação com valor fechado, em até 2 dias úteis após a demonstração.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3596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Implantação conduzida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9419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calibrada, contratos configurados, equipe treinada — você entra em operação pronto.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89204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303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(Lia)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12 99788-0659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23036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120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contato@hipertms.com.br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523036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 calculadora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hipertms.com.br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2026-08-12T16:42:57Z</dcterms:created>
  <dcterms:modified xsi:type="dcterms:W3CDTF">2026-08-12T16:42:57Z</dcterms:modified>
</cp:coreProperties>
</file>